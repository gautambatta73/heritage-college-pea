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notesMasterIdLst>
    <p:notesMasterId r:id="rId15"/>
  </p:notesMasterIdLst>
  <p:sldIdLst>
    <p:sldId id="256" r:id="rId2"/>
    <p:sldId id="262" r:id="rId3"/>
    <p:sldId id="257" r:id="rId4"/>
    <p:sldId id="261" r:id="rId5"/>
    <p:sldId id="258" r:id="rId6"/>
    <p:sldId id="260" r:id="rId7"/>
    <p:sldId id="259" r:id="rId8"/>
    <p:sldId id="265" r:id="rId9"/>
    <p:sldId id="264" r:id="rId10"/>
    <p:sldId id="266" r:id="rId11"/>
    <p:sldId id="267" r:id="rId12"/>
    <p:sldId id="268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29E7"/>
    <a:srgbClr val="9F86E9"/>
    <a:srgbClr val="F1F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6A3D4-57B1-4C6E-B3A4-8ECBE68CD937}" v="11" dt="2024-12-05T21:51:49.180"/>
    <p1510:client id="{B31E8992-3DC5-6E93-2AAB-7394415FC7DA}" v="691" dt="2024-12-06T04:15:52.112"/>
    <p1510:client id="{E4E4594D-DCAA-5280-1EBA-53E2D462C36B}" v="44" dt="2024-12-05T04:05:17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BFAB0-14DC-4E4F-B6E3-6F983F4157C2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453D7-C29A-4E9C-82FB-D7432CBBC9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511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nowgenetics.org/nucleotides-and-bases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7286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/>
              <a:t>Image: </a:t>
            </a:r>
            <a:r>
              <a:rPr lang="en-US" dirty="0">
                <a:hlinkClick r:id="rId3"/>
              </a:rPr>
              <a:t>https://knowgenetics.org/nucleotides-and-bases/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14999"/>
              </a:lnSpc>
              <a:spcAft>
                <a:spcPts val="700"/>
              </a:spcAft>
              <a:buChar char="-"/>
            </a:pP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14999"/>
              </a:lnSpc>
              <a:spcAft>
                <a:spcPts val="700"/>
              </a:spcAft>
            </a:pPr>
            <a:r>
              <a:rPr lang="en-US" sz="1200" kern="100" dirty="0">
                <a:effectLst/>
                <a:latin typeface="Liberation Serif"/>
                <a:ea typeface="NSimSun"/>
                <a:cs typeface="Arial" panose="020B0604020202020204" pitchFamily="34" charset="0"/>
              </a:rPr>
              <a:t>The pairs act like steps in a ladder, holding the two strands of DNA together. The order of the bases in a strand of DNA determines the biological instructions it contains.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lang="en-US" sz="1200" kern="100" dirty="0">
                <a:effectLst/>
                <a:latin typeface="Liberation Serif"/>
                <a:ea typeface="NSimSun" panose="02010609030101010101" pitchFamily="49" charset="-122"/>
                <a:cs typeface="Arial" panose="020B0604020202020204" pitchFamily="34" charset="0"/>
              </a:rPr>
              <a:t>The process of determining the order of nucleotides within a gene is called DNA sequencing</a:t>
            </a:r>
            <a:endParaRPr lang="en-CA" sz="1200" kern="100" dirty="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9867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Twist Bioscience. (2018, March 23). </a:t>
            </a:r>
            <a:r>
              <a:rPr lang="en-US" i="1" dirty="0"/>
              <a:t>DNA Data Storage by Twist Bioscience</a:t>
            </a:r>
            <a:r>
              <a:rPr lang="en-US" dirty="0"/>
              <a:t>. YouTube. https://youtu.be/LTnJWxCO3M4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503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PowerPoint</a:t>
            </a:r>
          </a:p>
          <a:p>
            <a:endParaRPr lang="en-US" dirty="0"/>
          </a:p>
          <a:p>
            <a:r>
              <a:rPr lang="en-US" dirty="0"/>
              <a:t>High density: A single gram of DNA can store up to 215 petabytes of data.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Longevity: DNA can remain stable for thousands of years under proper conditions.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n-US" dirty="0"/>
              <a:t>Durability: It outlasts traditional storage media like magnetic tapes or SSDs.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dirty="0">
              <a:cs typeface="+mn-lt"/>
            </a:endParaRPr>
          </a:p>
          <a:p>
            <a:r>
              <a:rPr lang="en-US" dirty="0"/>
              <a:t>DNA’s unmatched storage density and durability are major factors in interest. As data generation surpasses traditional storage solutions, DNA offers a sustainable, long-term alternative. Its applications include:</a:t>
            </a:r>
            <a:br>
              <a:rPr lang="en-US" dirty="0">
                <a:cs typeface="+mn-lt"/>
              </a:rPr>
            </a:br>
            <a:r>
              <a:rPr lang="en-US" dirty="0"/>
              <a:t>Long-term archival storage with minimal energy and environmental impact.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r>
              <a:rPr lang="en-US" dirty="0"/>
              <a:t>Reduced physical space and carbon emissions in data centers.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847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Image: PowerPoint</a:t>
            </a:r>
            <a:endParaRPr lang="en-US" dirty="0"/>
          </a:p>
          <a:p>
            <a:endParaRPr lang="en-US" dirty="0"/>
          </a:p>
          <a:p>
            <a:r>
              <a:rPr lang="en-US" dirty="0"/>
              <a:t>Substitutions: Replacing one nucleotide with another.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Insertions/Deletions: Adding or omitting nucleotides during synthesis or sequencing.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Base Pair Misreads: Errors in interpreting nucleotide sequences during sequencing.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0377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+mn-lt"/>
              </a:rPr>
              <a:t>Image: PowerPoint</a:t>
            </a:r>
            <a:endParaRPr lang="en-US"/>
          </a:p>
          <a:p>
            <a:endParaRPr lang="en-US" dirty="0">
              <a:ea typeface="Calibri"/>
              <a:cs typeface="+mn-lt"/>
            </a:endParaRPr>
          </a:p>
          <a:p>
            <a:r>
              <a:rPr lang="en-US" dirty="0"/>
              <a:t>DNA storage involves sequencing stored DNA and translating it back into digital data. Challenges include sequencing errors and lengthy processing times. AI can address these issues by:</a:t>
            </a:r>
            <a:endParaRPr lang="en-US" dirty="0">
              <a:ea typeface="Calibri"/>
              <a:cs typeface="Calibri" panose="020F0502020204030204"/>
            </a:endParaRPr>
          </a:p>
          <a:p>
            <a:br>
              <a:rPr lang="en-US" dirty="0">
                <a:ea typeface="Calibri"/>
                <a:cs typeface="+mn-lt"/>
              </a:rPr>
            </a:br>
            <a:r>
              <a:rPr lang="en-US" dirty="0"/>
              <a:t>Managing and interpreting the wealth of information that the DNA sequence may hold can reduce errors.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Pattern Recognition: Identifying efficient encoding strategies based on data properties. Dynamic Adjustments: Modifying encoding methods to the specific structure and requirements of data.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AI and ML error correction prevents re-synthesis expenses. Predictive Models: Anticipating and addressing potential errors before they occur.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Improving encoding and decoding processes reduce reliance on costly redundancy.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122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PowerPoint</a:t>
            </a:r>
          </a:p>
          <a:p>
            <a:endParaRPr lang="en-US" dirty="0"/>
          </a:p>
          <a:p>
            <a:r>
              <a:rPr lang="en-US" dirty="0"/>
              <a:t>Scaling DNA data storage to manage large amounts of data presents many unique challenges. AI addresses these through: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Adaptive Algorithms: Algorithms created by AI that adjust to varying data sizes and complexities.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Resource Optimization: AI can optimize data retrieval and management at scale.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6255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PowerPoint</a:t>
            </a:r>
          </a:p>
          <a:p>
            <a:endParaRPr lang="en-US" dirty="0"/>
          </a:p>
          <a:p>
            <a:r>
              <a:rPr lang="en-US" dirty="0"/>
              <a:t>While DNA data storage is still in the experimental stage, systems like 2DDNA, have shown promising results: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2DDNA method efficiently stores images in synthetic DNA and embeds pertinent metadata as nicks in the DNA backbone.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High Reliability: Experimental tests reveal undetectable visual degradation after processing, and efficient metadata rewriting.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Ongoing Improvements: Advancements in ML and AI continue to enhance system performance for DNA processing, addressing limitations in cost, scalability, and error correction.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/>
              <a:t>Reliability is critical for DNA data storage. AI-driven approaches to improving it include:</a:t>
            </a:r>
            <a:endParaRPr lang="en-US" dirty="0"/>
          </a:p>
          <a:p>
            <a:r>
              <a:rPr lang="en-US"/>
              <a:t>Quality Control: Continuous monitoring of the data integrity and performance of the overall system.</a:t>
            </a:r>
            <a:endParaRPr lang="en-US" dirty="0"/>
          </a:p>
          <a:p>
            <a:r>
              <a:rPr lang="en-US" dirty="0"/>
              <a:t>Hybrid Solutions: Seamlessly integrating DNA data storage with traditional digital systems to maximize efficiency and versatility.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7941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8910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453D7-C29A-4E9C-82FB-D7432CBBC9D0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3330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12/5/2024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877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12/5/2024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999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242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039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63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636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89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4316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833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42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432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12/5/2024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8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57" r:id="rId6"/>
    <p:sldLayoutId id="2147483753" r:id="rId7"/>
    <p:sldLayoutId id="2147483754" r:id="rId8"/>
    <p:sldLayoutId id="2147483755" r:id="rId9"/>
    <p:sldLayoutId id="2147483756" r:id="rId10"/>
    <p:sldLayoutId id="214748375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LTnJWxCO3M4?feature=oembed" TargetMode="Externa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douglasp.schwartz/beyond-binary-the-convergence-of-quantum-computing-dna-data-storage-and-ai-14e653c8e67e/" TargetMode="External"/><Relationship Id="rId3" Type="http://schemas.openxmlformats.org/officeDocument/2006/relationships/hyperlink" Target="https://doi.org/10.1038/s41467-022-30140-x" TargetMode="External"/><Relationship Id="rId7" Type="http://schemas.openxmlformats.org/officeDocument/2006/relationships/hyperlink" Target="https://news.mit.edu/2021/dna-data-storage-0610/" TargetMode="External"/><Relationship Id="rId2" Type="http://schemas.openxmlformats.org/officeDocument/2006/relationships/hyperlink" Target="https://youtu.be/LTnJWxCO3M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tificamerican.com/article/dna-the-ultimate-data-storage-solution/" TargetMode="External"/><Relationship Id="rId5" Type="http://schemas.openxmlformats.org/officeDocument/2006/relationships/hyperlink" Target="https://wyss.harvard.edu/technology/dna-data-storage/" TargetMode="External"/><Relationship Id="rId4" Type="http://schemas.openxmlformats.org/officeDocument/2006/relationships/hyperlink" Target="https://www.wired.com/sponsored/story/hsbc-frontiers-biotech-synthetic-dna-storag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0953" y="4245806"/>
            <a:ext cx="6190895" cy="22106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Presented by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: Gautam Batta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Course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: Advanced Topics in Computer Science I</a:t>
            </a:r>
          </a:p>
          <a:p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Instructor: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Katrina Butler</a:t>
            </a:r>
          </a:p>
          <a:p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Date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: December 10, 2024</a:t>
            </a:r>
            <a:endParaRPr lang="en-US" dirty="0">
              <a:ea typeface="+mn-lt"/>
              <a:cs typeface="+mn-lt"/>
            </a:endParaRPr>
          </a:p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491506" y="-615180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516668"/>
            <a:ext cx="4187283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969850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4959C482-386D-B2B6-AAD1-653F9528FCD1}"/>
              </a:ext>
            </a:extLst>
          </p:cNvPr>
          <p:cNvSpPr txBox="1">
            <a:spLocks/>
          </p:cNvSpPr>
          <p:nvPr/>
        </p:nvSpPr>
        <p:spPr>
          <a:xfrm>
            <a:off x="1547309" y="1712240"/>
            <a:ext cx="9090476" cy="217960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rgbClr val="FFFFFF"/>
                </a:solidFill>
                <a:ea typeface="+mj-lt"/>
                <a:cs typeface="+mj-lt"/>
              </a:rPr>
              <a:t>Revolutionizing Data Encoding, Decoding, and Error Correction</a:t>
            </a:r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3339" y="402371"/>
            <a:ext cx="10402273" cy="2613651"/>
          </a:xfrm>
        </p:spPr>
        <p:txBody>
          <a:bodyPr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  <a:ea typeface="+mj-lt"/>
                <a:cs typeface="+mj-lt"/>
              </a:rPr>
              <a:t>Enhancing DNA Data Storage with AI and Machine Learning</a:t>
            </a:r>
            <a:endParaRPr lang="en-US" sz="4800" dirty="0"/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5551E6C0-53D8-F786-AD26-1CF488EC8564}"/>
              </a:ext>
            </a:extLst>
          </p:cNvPr>
          <p:cNvSpPr/>
          <p:nvPr/>
        </p:nvSpPr>
        <p:spPr>
          <a:xfrm>
            <a:off x="4192255" y="3882276"/>
            <a:ext cx="3799561" cy="365342"/>
          </a:xfrm>
          <a:prstGeom prst="mathMinus">
            <a:avLst/>
          </a:prstGeom>
          <a:solidFill>
            <a:srgbClr val="9F86E9"/>
          </a:solidFill>
          <a:ln>
            <a:solidFill>
              <a:srgbClr val="9F8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AE867-8A11-E9A2-4711-5516CA8C3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45B0D-914D-7544-B2FF-C4B21D23E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>
                <a:ea typeface="+mn-lt"/>
                <a:cs typeface="+mn-lt"/>
              </a:rPr>
              <a:t>What is DNA Data Storage?</a:t>
            </a:r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/>
              <a:t>Video (35 Seconds)</a:t>
            </a:r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/>
              <a:t>Why is it gaining popularity?</a:t>
            </a:r>
          </a:p>
          <a:p>
            <a:pPr marL="342900" indent="-342900">
              <a:lnSpc>
                <a:spcPct val="100000"/>
              </a:lnSpc>
              <a:buFont typeface="Calibri,Sans-Serif" panose="020B0604020202020204" pitchFamily="34" charset="0"/>
              <a:buChar char="-"/>
            </a:pPr>
            <a:r>
              <a:rPr lang="en-US" sz="1400" dirty="0">
                <a:latin typeface="Avenir Next LT Pro"/>
              </a:rPr>
              <a:t>Common Errors in DNA Synthesis and Sequencing</a:t>
            </a:r>
            <a:endParaRPr lang="en-US" sz="1400" dirty="0"/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>
                <a:latin typeface="Avenir Next LT Pro"/>
              </a:rPr>
              <a:t>How Can AI Enhance DNA Data Storage?</a:t>
            </a:r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>
                <a:latin typeface="Avenir Next LT Pro"/>
              </a:rPr>
              <a:t>Handling Large-Scale Data with AI</a:t>
            </a:r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>
                <a:ea typeface="+mn-lt"/>
                <a:cs typeface="+mn-lt"/>
              </a:rPr>
              <a:t>Improving Reliability, Efficiency, and Integration</a:t>
            </a:r>
            <a:endParaRPr lang="en-US" sz="1400" dirty="0"/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>
                <a:latin typeface="Avenir Next LT Pro"/>
              </a:rPr>
              <a:t>Conclusion: The Future of DNA Data Storage</a:t>
            </a:r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400" dirty="0"/>
              <a:t>Questions?</a:t>
            </a:r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endParaRPr lang="en-US" sz="1400"/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endParaRPr lang="en-US" sz="1400"/>
          </a:p>
          <a:p>
            <a:pPr marL="342900" indent="-342900">
              <a:lnSpc>
                <a:spcPct val="100000"/>
              </a:lnSpc>
              <a:buFont typeface="Calibri" panose="020B0604020202020204" pitchFamily="34" charset="0"/>
              <a:buChar char="-"/>
            </a:pPr>
            <a:endParaRPr lang="en-US" sz="1400"/>
          </a:p>
        </p:txBody>
      </p:sp>
      <p:pic>
        <p:nvPicPr>
          <p:cNvPr id="4" name="Graphic 3" descr="Artificial Intelligence with solid fill">
            <a:extLst>
              <a:ext uri="{FF2B5EF4-FFF2-40B4-BE49-F238E27FC236}">
                <a16:creationId xmlns:a16="http://schemas.microsoft.com/office/drawing/2014/main" id="{B135F057-7BC1-8302-00FA-69029DBC8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3771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102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42C60-5556-D000-51A4-7F2D51D9D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What is DNA Data Storage?</a:t>
            </a:r>
            <a:endParaRPr lang="en-US" dirty="0"/>
          </a:p>
        </p:txBody>
      </p:sp>
      <p:sp>
        <p:nvSpPr>
          <p:cNvPr id="1031" name="Freeform: Shape 103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32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038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39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40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2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3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C53E0-01FA-7B9E-7BD3-23B469E55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700"/>
              </a:spcAft>
              <a:buFontTx/>
              <a:buChar char="-"/>
            </a:pPr>
            <a:r>
              <a:rPr lang="en-CA" kern="100">
                <a:latin typeface="Liberation Serif"/>
                <a:ea typeface="NSimSun" panose="02010609030101010101" pitchFamily="49" charset="-122"/>
                <a:cs typeface="Arial" panose="020B0604020202020204" pitchFamily="34" charset="0"/>
              </a:rPr>
              <a:t>E</a:t>
            </a:r>
            <a:r>
              <a:rPr lang="en-CA" kern="100">
                <a:effectLst/>
                <a:latin typeface="Liberation Serif"/>
                <a:ea typeface="NSimSun" panose="02010609030101010101" pitchFamily="49" charset="-122"/>
                <a:cs typeface="Arial" panose="020B0604020202020204" pitchFamily="34" charset="0"/>
              </a:rPr>
              <a:t>ncodes binary information into the nucleotide sequences of DNA (composed of A, T, C, and G). </a:t>
            </a:r>
          </a:p>
          <a:p>
            <a:pPr marL="285750" indent="-285750">
              <a:spcAft>
                <a:spcPts val="700"/>
              </a:spcAft>
              <a:buFontTx/>
              <a:buChar char="-"/>
            </a:pPr>
            <a:r>
              <a:rPr lang="en-US" kern="100">
                <a:effectLst/>
                <a:latin typeface="Liberation Serif"/>
                <a:ea typeface="NSimSun" panose="02010609030101010101" pitchFamily="49" charset="-122"/>
                <a:cs typeface="Arial" panose="020B0604020202020204" pitchFamily="34" charset="0"/>
              </a:rPr>
              <a:t>Nucleotides on opposite strands of the DNA form bonds with each other, called base pairs. </a:t>
            </a:r>
          </a:p>
          <a:p>
            <a:pPr marL="285750" indent="-285750">
              <a:spcAft>
                <a:spcPts val="700"/>
              </a:spcAft>
              <a:buFontTx/>
              <a:buChar char="-"/>
            </a:pPr>
            <a:r>
              <a:rPr lang="en-US" kern="100">
                <a:effectLst/>
                <a:latin typeface="Liberation Serif"/>
                <a:ea typeface="NSimSun" panose="02010609030101010101" pitchFamily="49" charset="-122"/>
                <a:cs typeface="Arial" panose="020B0604020202020204" pitchFamily="34" charset="0"/>
              </a:rPr>
              <a:t>DNA sequencing</a:t>
            </a:r>
            <a:endParaRPr lang="en-CA" kern="100">
              <a:effectLst/>
              <a:latin typeface="Liberation Serif"/>
              <a:ea typeface="NSimSun" panose="0201060903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2F9A996-5BF1-8BA6-BBBF-B80D21BD7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3780" y="928405"/>
            <a:ext cx="5660211" cy="491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051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487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DNA Data Storage by Twist Bioscience">
            <a:hlinkClick r:id="" action="ppaction://media"/>
            <a:extLst>
              <a:ext uri="{FF2B5EF4-FFF2-40B4-BE49-F238E27FC236}">
                <a16:creationId xmlns:a16="http://schemas.microsoft.com/office/drawing/2014/main" id="{9FD2CE4F-F896-F4A0-BDD9-243C9C91D7B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-2853" y="965"/>
            <a:ext cx="12189649" cy="685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9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6387D-9D41-D262-1C84-2C0D906B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6160"/>
            <a:ext cx="4767930" cy="184873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Why DNA Data Storage is Gaining Popularity?</a:t>
            </a:r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3E5F285-BD95-4989-B20B-778990159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21648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9" name="Graphic 78">
            <a:extLst>
              <a:ext uri="{FF2B5EF4-FFF2-40B4-BE49-F238E27FC236}">
                <a16:creationId xmlns:a16="http://schemas.microsoft.com/office/drawing/2014/main" id="{6C02F4BE-6538-4CAD-B506-5FEB41D3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4415" y="3039261"/>
            <a:ext cx="1020166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0" name="Graphic 78">
              <a:extLst>
                <a:ext uri="{FF2B5EF4-FFF2-40B4-BE49-F238E27FC236}">
                  <a16:creationId xmlns:a16="http://schemas.microsoft.com/office/drawing/2014/main" id="{3937246C-D7B5-4CC9-B979-0999DFD5B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aphic 78">
              <a:extLst>
                <a:ext uri="{FF2B5EF4-FFF2-40B4-BE49-F238E27FC236}">
                  <a16:creationId xmlns:a16="http://schemas.microsoft.com/office/drawing/2014/main" id="{559392DF-C926-44F7-920D-C232D60C0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id="{437FE2E3-579D-4AA7-8775-C78D1D5631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A6A05323-CAFA-4D34-83D6-3B23B02085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Graphic 78">
                <a:extLst>
                  <a:ext uri="{FF2B5EF4-FFF2-40B4-BE49-F238E27FC236}">
                    <a16:creationId xmlns:a16="http://schemas.microsoft.com/office/drawing/2014/main" id="{D49C45E0-CA07-4FD4-9097-BF313F498A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Graphic 78">
                <a:extLst>
                  <a:ext uri="{FF2B5EF4-FFF2-40B4-BE49-F238E27FC236}">
                    <a16:creationId xmlns:a16="http://schemas.microsoft.com/office/drawing/2014/main" id="{1EC741B7-EEE8-43D3-9F8E-C2B4DD1965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7053D-22E9-49E4-856A-87B63B79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1" y="3299404"/>
            <a:ext cx="4767930" cy="274575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High density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Longevity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Durability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Many Applications:</a:t>
            </a:r>
          </a:p>
          <a:p>
            <a:r>
              <a:rPr lang="en-US" dirty="0">
                <a:ea typeface="+mn-lt"/>
                <a:cs typeface="+mn-lt"/>
              </a:rPr>
              <a:t>  - Long-Term Archival Storage</a:t>
            </a:r>
          </a:p>
          <a:p>
            <a:r>
              <a:rPr lang="en-US" dirty="0">
                <a:ea typeface="+mn-lt"/>
                <a:cs typeface="+mn-lt"/>
              </a:rPr>
              <a:t>  - Space</a:t>
            </a:r>
          </a:p>
        </p:txBody>
      </p:sp>
      <p:pic>
        <p:nvPicPr>
          <p:cNvPr id="4" name="Graphic 3" descr="Bar graph with upward trend with solid fill">
            <a:extLst>
              <a:ext uri="{FF2B5EF4-FFF2-40B4-BE49-F238E27FC236}">
                <a16:creationId xmlns:a16="http://schemas.microsoft.com/office/drawing/2014/main" id="{582879B5-EBB3-7120-27DD-E33926907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0742" y="565167"/>
            <a:ext cx="5654663" cy="5654663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B6061A8-D267-4967-AF47-C3CC45138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5602884"/>
            <a:ext cx="4292956" cy="1255116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2DB770A-658D-4212-9BF2-236070D5D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91063" y="5736410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B99195-76A3-4B90-8F45-BAEF05699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1029419-581A-4B40-B3E3-BD5931F99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8F181C6-C3A7-463D-B837-E6FB1B08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3" name="Graphic 12">
              <a:extLst>
                <a:ext uri="{FF2B5EF4-FFF2-40B4-BE49-F238E27FC236}">
                  <a16:creationId xmlns:a16="http://schemas.microsoft.com/office/drawing/2014/main" id="{FB6F6AFA-67F5-4D3A-839B-6B3980B6F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Graphic 15">
              <a:extLst>
                <a:ext uri="{FF2B5EF4-FFF2-40B4-BE49-F238E27FC236}">
                  <a16:creationId xmlns:a16="http://schemas.microsoft.com/office/drawing/2014/main" id="{E9F49015-3756-46EC-AF1A-2F33219CB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Graphic 15">
              <a:extLst>
                <a:ext uri="{FF2B5EF4-FFF2-40B4-BE49-F238E27FC236}">
                  <a16:creationId xmlns:a16="http://schemas.microsoft.com/office/drawing/2014/main" id="{44C1E606-364B-4793-83A8-61AC96EDB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D62BB33-881E-4E43-A746-75C1E7C32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0686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1B21E-DA4E-C53E-2F98-495C5D0C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5570332" cy="145509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ea typeface="+mj-lt"/>
                <a:cs typeface="+mj-lt"/>
              </a:rPr>
              <a:t>Common Errors in DNA Synthesis and Sequencing</a:t>
            </a:r>
            <a:endParaRPr lang="en-US" sz="33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8CCEE-3B4E-C160-6CB9-7F36203B2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5579978" cy="322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Types of Errors: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Substitutions, Insertions, and Deletions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Misreads In Base Pairs</a:t>
            </a:r>
            <a:endParaRPr lang="en-US" dirty="0"/>
          </a:p>
          <a:p>
            <a:endParaRPr lang="en-US" dirty="0"/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D8346A8A-1FB2-DDDE-258C-248FECE82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6959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DC97B-6401-8B42-D942-204D30A57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sz="3300" dirty="0">
                <a:ea typeface="+mj-lt"/>
                <a:cs typeface="+mj-lt"/>
              </a:rPr>
              <a:t>How Can AI Enhance DNA Data Storage?</a:t>
            </a:r>
            <a:endParaRPr lang="en-US" sz="33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82874-D32D-C3B1-55BF-C7AF6EF35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Reduce Errors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Improve Accuracy and Speed</a:t>
            </a:r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Predicts and Corrects Synthesis/Sequencing Errors</a:t>
            </a:r>
            <a:endParaRPr lang="en-US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Reduces Costs</a:t>
            </a:r>
            <a:endParaRPr lang="en-US" dirty="0"/>
          </a:p>
          <a:p>
            <a:endParaRPr lang="en-US" dirty="0"/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3473D4DD-BACA-C92A-8186-2ED9468B0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7877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44578-F297-6D1A-9288-0F8EF46D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Handling Large-Scale Data with AI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11B8-59CA-DD28-41A4-5BB5C0525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Adaptive Algorithms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Resource Optimization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7" name="Graphic 6" descr="Report Add">
            <a:extLst>
              <a:ext uri="{FF2B5EF4-FFF2-40B4-BE49-F238E27FC236}">
                <a16:creationId xmlns:a16="http://schemas.microsoft.com/office/drawing/2014/main" id="{F688F11E-5096-7CFC-F487-F80609191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59069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FB4BC-8EA4-BBDF-7175-80523BD9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ea typeface="+mj-lt"/>
                <a:cs typeface="+mj-lt"/>
              </a:rPr>
              <a:t>Improving Reliability, Efficiency, and Integration</a:t>
            </a:r>
            <a:endParaRPr lang="en-US" sz="33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AA6D-1B0C-E6FE-F886-88C035DE4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Current State (2DDNA):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  - High Reliability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  - Ongoing Improvements</a:t>
            </a:r>
          </a:p>
          <a:p>
            <a:endParaRPr lang="en-US" dirty="0"/>
          </a:p>
          <a:p>
            <a:pPr marL="342900" indent="-342900">
              <a:buFont typeface="Calibri,Sans-Serif"/>
              <a:buChar char="-"/>
            </a:pPr>
            <a:r>
              <a:rPr lang="en-US" dirty="0"/>
              <a:t>Quality Control</a:t>
            </a:r>
          </a:p>
          <a:p>
            <a:pPr marL="342900" indent="-342900">
              <a:buFont typeface="Calibri,Sans-Serif"/>
              <a:buChar char="-"/>
            </a:pPr>
            <a:r>
              <a:rPr lang="en-US" dirty="0"/>
              <a:t>Hybrid Solutions</a:t>
            </a:r>
          </a:p>
        </p:txBody>
      </p:sp>
      <p:pic>
        <p:nvPicPr>
          <p:cNvPr id="7" name="Graphic 6" descr="Tools">
            <a:extLst>
              <a:ext uri="{FF2B5EF4-FFF2-40B4-BE49-F238E27FC236}">
                <a16:creationId xmlns:a16="http://schemas.microsoft.com/office/drawing/2014/main" id="{EAAD1D9F-6CCC-8A61-1188-1878D98E8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511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274FC-6641-C933-303A-31AD2CE2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ea typeface="+mj-lt"/>
                <a:cs typeface="+mj-lt"/>
              </a:rPr>
              <a:t>Conclusion: The Future of DNA Data Storage</a:t>
            </a:r>
            <a:endParaRPr lang="en-US" sz="33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AA1C1-BE34-9BAC-9570-79CB20356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AI and ML can help improve encoding, decoding, error correction, and scalability.</a:t>
            </a:r>
            <a:endParaRPr lang="en-US" sz="17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Innovations like 2DDNA system.</a:t>
            </a:r>
            <a:endParaRPr lang="en-US" sz="17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Potential to permanently alter data storage paradigms.</a:t>
            </a:r>
            <a:endParaRPr lang="en-US" sz="17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DNA offers unparalleled density, durability, and flexibility.</a:t>
            </a:r>
            <a:endParaRPr lang="en-US" sz="170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Research developments may lead to integration with existing digital systems.</a:t>
            </a:r>
            <a:endParaRPr lang="en-US" sz="1700"/>
          </a:p>
          <a:p>
            <a:pPr>
              <a:lnSpc>
                <a:spcPct val="100000"/>
              </a:lnSpc>
            </a:pPr>
            <a:endParaRPr lang="en-US" sz="1700"/>
          </a:p>
        </p:txBody>
      </p:sp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E59AA10B-62D7-3088-EB8D-50C55C027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2888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BBA82-74B7-B257-9A4E-5EAA02C0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589788"/>
            <a:ext cx="4884481" cy="25109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Questions?</a:t>
            </a:r>
          </a:p>
        </p:txBody>
      </p:sp>
      <p:grpSp>
        <p:nvGrpSpPr>
          <p:cNvPr id="32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3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5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359837A4-3B58-3330-E3A7-70DF1DB3A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4204" y="589788"/>
            <a:ext cx="5678424" cy="5678424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4925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763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4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790E4-177D-FB0E-0846-28BC545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589788"/>
            <a:ext cx="4884481" cy="25109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The End</a:t>
            </a:r>
          </a:p>
        </p:txBody>
      </p:sp>
      <p:grpSp>
        <p:nvGrpSpPr>
          <p:cNvPr id="33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4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Content Placeholder 4" descr="Clipboard Checked with solid fill">
            <a:extLst>
              <a:ext uri="{FF2B5EF4-FFF2-40B4-BE49-F238E27FC236}">
                <a16:creationId xmlns:a16="http://schemas.microsoft.com/office/drawing/2014/main" id="{D5752D97-5FBF-503E-9ABA-FD654F212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4204" y="589788"/>
            <a:ext cx="5678424" cy="5678424"/>
          </a:xfrm>
          <a:prstGeom prst="rect">
            <a:avLst/>
          </a:pr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4925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83005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1F40-86B6-8252-9C50-098D0786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833951"/>
          </a:xfrm>
        </p:spPr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B1B7D-7CA5-84F4-1DAF-0B0B94B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104" y="1723014"/>
            <a:ext cx="10077557" cy="4347915"/>
          </a:xfrm>
          <a:solidFill>
            <a:srgbClr val="F1F3F0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i="1" dirty="0">
                <a:latin typeface="Times New Roman"/>
                <a:ea typeface="Calibri"/>
                <a:cs typeface="Calibri"/>
              </a:rPr>
              <a:t>Twist Bioscience. (2018, March 23). DNA Data Storage by Twist Bioscience. YouTube. </a:t>
            </a:r>
            <a:r>
              <a:rPr lang="en-US" sz="1400" i="1" dirty="0">
                <a:latin typeface="Times New Roman"/>
                <a:ea typeface="Calibri"/>
                <a:cs typeface="Calibri"/>
                <a:hlinkClick r:id="rId2"/>
              </a:rPr>
              <a:t>https://youtu.be/LTnJWxCO3M4</a:t>
            </a:r>
            <a:endParaRPr lang="en-US" sz="1400" i="1">
              <a:latin typeface="Times New Roman"/>
              <a:ea typeface="Calibri"/>
              <a:cs typeface="Times New Roman"/>
            </a:endParaRPr>
          </a:p>
          <a:p>
            <a:r>
              <a:rPr lang="en-US" sz="1400" i="1" dirty="0">
                <a:latin typeface="Times New Roman"/>
                <a:ea typeface="+mn-lt"/>
                <a:cs typeface="+mn-lt"/>
              </a:rPr>
              <a:t>Pan, C., Tabatabaei, S. K., Tabatabaei Yazdi, S. M. H., Hernandez, A. G., Schroeder, C. M., &amp; Milenkovic, O. (2022). Rewritable two-dimensional DNA-based data storage with machine learning reconstruction. Nature communications, 13(1), Article 2984. </a:t>
            </a:r>
            <a:r>
              <a:rPr lang="en-US" sz="1400" i="1" u="sng" dirty="0">
                <a:latin typeface="Times New Roman"/>
                <a:ea typeface="+mn-lt"/>
                <a:cs typeface="+mn-lt"/>
                <a:hlinkClick r:id="rId3"/>
              </a:rPr>
              <a:t>https://doi.org/10.1038/s41467-022-30140-x</a:t>
            </a:r>
            <a:endParaRPr lang="en-US" sz="1400" dirty="0">
              <a:latin typeface="Times New Roman"/>
              <a:ea typeface="+mn-lt"/>
              <a:cs typeface="+mn-lt"/>
            </a:endParaRPr>
          </a:p>
          <a:p>
            <a:r>
              <a:rPr lang="en-US" sz="1400" i="1" dirty="0">
                <a:latin typeface="Times New Roman"/>
                <a:ea typeface="+mn-lt"/>
                <a:cs typeface="+mn-lt"/>
              </a:rPr>
              <a:t>WIRED. (2024, March 5). Is DNA the future of computer storage? WIRED. </a:t>
            </a:r>
            <a:r>
              <a:rPr lang="en-US" sz="1400" i="1" u="sng" dirty="0">
                <a:latin typeface="Times New Roman"/>
                <a:ea typeface="+mn-lt"/>
                <a:cs typeface="+mn-lt"/>
                <a:hlinkClick r:id="rId4"/>
              </a:rPr>
              <a:t>https://www.wired.com/sponsored/story/hsbc-frontiers-biotech-synthetic-dna-storage/</a:t>
            </a:r>
            <a:endParaRPr lang="en-US" sz="1400">
              <a:latin typeface="Times New Roman"/>
              <a:cs typeface="Times New Roman"/>
            </a:endParaRPr>
          </a:p>
          <a:p>
            <a:r>
              <a:rPr lang="en-US" sz="1400" dirty="0">
                <a:latin typeface="Times New Roman"/>
                <a:ea typeface="+mn-lt"/>
                <a:cs typeface="+mn-lt"/>
              </a:rPr>
              <a:t>‌</a:t>
            </a:r>
            <a:r>
              <a:rPr lang="en-US" sz="1400" i="1" dirty="0">
                <a:latin typeface="Times New Roman"/>
                <a:ea typeface="+mn-lt"/>
                <a:cs typeface="+mn-lt"/>
              </a:rPr>
              <a:t>Church, G., &amp; Ingber, D. (2016, April 8). DNA Data Storage. Wyss Institute. </a:t>
            </a:r>
            <a:r>
              <a:rPr lang="en-US" sz="1400" i="1" u="sng" dirty="0">
                <a:latin typeface="Times New Roman"/>
                <a:ea typeface="+mn-lt"/>
                <a:cs typeface="+mn-lt"/>
                <a:hlinkClick r:id="rId5"/>
              </a:rPr>
              <a:t>https://wyss.harvard.edu/technology/dna-data-storage/</a:t>
            </a:r>
            <a:endParaRPr lang="en-US" sz="1400" dirty="0">
              <a:latin typeface="Times New Roman"/>
              <a:ea typeface="+mn-lt"/>
              <a:cs typeface="+mn-lt"/>
            </a:endParaRPr>
          </a:p>
          <a:p>
            <a:r>
              <a:rPr lang="en-US" sz="1400" i="1" dirty="0">
                <a:latin typeface="Times New Roman"/>
                <a:ea typeface="+mn-lt"/>
                <a:cs typeface="+mn-lt"/>
              </a:rPr>
              <a:t>Settlemyer, B., &amp; </a:t>
            </a:r>
            <a:r>
              <a:rPr lang="en-US" sz="1400" i="1" err="1">
                <a:latin typeface="Times New Roman"/>
                <a:ea typeface="+mn-lt"/>
                <a:cs typeface="+mn-lt"/>
              </a:rPr>
              <a:t>Ionkov</a:t>
            </a:r>
            <a:r>
              <a:rPr lang="en-US" sz="1400" i="1" dirty="0">
                <a:latin typeface="Times New Roman"/>
                <a:ea typeface="+mn-lt"/>
                <a:cs typeface="+mn-lt"/>
              </a:rPr>
              <a:t>, L. (2021, May 28). DNA: The Ultimate Data-Storage Solution. Scientific American. </a:t>
            </a:r>
            <a:r>
              <a:rPr lang="en-US" sz="1400" i="1" u="sng" dirty="0">
                <a:latin typeface="Times New Roman"/>
                <a:ea typeface="+mn-lt"/>
                <a:cs typeface="+mn-lt"/>
                <a:hlinkClick r:id="rId6"/>
              </a:rPr>
              <a:t>https://www.scientificamerican.com/article/dna-the-ultimate-data-storage-solution/</a:t>
            </a:r>
            <a:endParaRPr lang="en-US" sz="1400" dirty="0">
              <a:latin typeface="Times New Roman"/>
              <a:ea typeface="+mn-lt"/>
              <a:cs typeface="+mn-lt"/>
            </a:endParaRPr>
          </a:p>
          <a:p>
            <a:r>
              <a:rPr lang="en-US" sz="1400" i="1" dirty="0">
                <a:latin typeface="Times New Roman"/>
                <a:ea typeface="+mn-lt"/>
                <a:cs typeface="+mn-lt"/>
              </a:rPr>
              <a:t>Trafton, A. (2021, June 10). Could all your digital photos be stored as DNA? MIT News | Massachusetts Institute of Technology. </a:t>
            </a:r>
            <a:r>
              <a:rPr lang="en-US" sz="1400" i="1" u="sng" dirty="0">
                <a:latin typeface="Times New Roman"/>
                <a:ea typeface="+mn-lt"/>
                <a:cs typeface="+mn-lt"/>
                <a:hlinkClick r:id="rId7"/>
              </a:rPr>
              <a:t>https://news.mit.edu/2021/dna-data-storage-0610/</a:t>
            </a:r>
            <a:endParaRPr lang="en-US" sz="1400" dirty="0">
              <a:latin typeface="Times New Roman"/>
              <a:ea typeface="+mn-lt"/>
              <a:cs typeface="+mn-lt"/>
            </a:endParaRPr>
          </a:p>
          <a:p>
            <a:r>
              <a:rPr lang="en-US" sz="1400" i="1" dirty="0">
                <a:latin typeface="Times New Roman"/>
                <a:ea typeface="+mn-lt"/>
                <a:cs typeface="+mn-lt"/>
              </a:rPr>
              <a:t>Schwartz, D. P. (2024, January 2). Beyond Binary: The Convergence of Quantum Computing, DNA Data Storage, and AI. Medium. </a:t>
            </a:r>
            <a:r>
              <a:rPr lang="en-US" sz="1400" i="1" u="sng" dirty="0">
                <a:latin typeface="Times New Roman"/>
                <a:ea typeface="+mn-lt"/>
                <a:cs typeface="+mn-lt"/>
                <a:hlinkClick r:id="rId8"/>
              </a:rPr>
              <a:t>https://medium.com/@douglasp.schwartz/beyond-binary-the-convergence-of-quantum-computing-dna-data-storage-and-ai-14e653c8e67e/</a:t>
            </a:r>
            <a:endParaRPr lang="en-US" sz="1400" dirty="0">
              <a:latin typeface="Times New Roman"/>
              <a:ea typeface="+mn-lt"/>
              <a:cs typeface="+mn-lt"/>
            </a:endParaRPr>
          </a:p>
          <a:p>
            <a:endParaRPr lang="en-US" sz="1400" i="1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C7253AE3-8606-E7B3-A241-E2ED93C2FA43}"/>
              </a:ext>
            </a:extLst>
          </p:cNvPr>
          <p:cNvSpPr/>
          <p:nvPr/>
        </p:nvSpPr>
        <p:spPr>
          <a:xfrm>
            <a:off x="419126" y="1510244"/>
            <a:ext cx="1513561" cy="205568"/>
          </a:xfrm>
          <a:prstGeom prst="mathMinus">
            <a:avLst/>
          </a:prstGeom>
          <a:solidFill>
            <a:srgbClr val="A829E7"/>
          </a:solidFill>
          <a:ln>
            <a:solidFill>
              <a:srgbClr val="9F8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85868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AnalogousFromDarkSeedLeftStep">
      <a:dk1>
        <a:srgbClr val="000000"/>
      </a:dk1>
      <a:lt1>
        <a:srgbClr val="FFFFFF"/>
      </a:lt1>
      <a:dk2>
        <a:srgbClr val="1B2F2F"/>
      </a:dk2>
      <a:lt2>
        <a:srgbClr val="F1F3F0"/>
      </a:lt2>
      <a:accent1>
        <a:srgbClr val="A829E7"/>
      </a:accent1>
      <a:accent2>
        <a:srgbClr val="5F35DA"/>
      </a:accent2>
      <a:accent3>
        <a:srgbClr val="2948E7"/>
      </a:accent3>
      <a:accent4>
        <a:srgbClr val="1785D5"/>
      </a:accent4>
      <a:accent5>
        <a:srgbClr val="22BFC0"/>
      </a:accent5>
      <a:accent6>
        <a:srgbClr val="16C67D"/>
      </a:accent6>
      <a:hlink>
        <a:srgbClr val="3897AA"/>
      </a:hlink>
      <a:folHlink>
        <a:srgbClr val="7F7F7F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123</Words>
  <Application>Microsoft Office PowerPoint</Application>
  <PresentationFormat>Widescreen</PresentationFormat>
  <Paragraphs>9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RocaVTI</vt:lpstr>
      <vt:lpstr>Enhancing DNA Data Storage with AI and Machine Learning</vt:lpstr>
      <vt:lpstr>Agenda</vt:lpstr>
      <vt:lpstr>What is DNA Data Storage?</vt:lpstr>
      <vt:lpstr>PowerPoint Presentation</vt:lpstr>
      <vt:lpstr>Why DNA Data Storage is Gaining Popularity?</vt:lpstr>
      <vt:lpstr>Common Errors in DNA Synthesis and Sequencing</vt:lpstr>
      <vt:lpstr>How Can AI Enhance DNA Data Storage?</vt:lpstr>
      <vt:lpstr>Handling Large-Scale Data with AI</vt:lpstr>
      <vt:lpstr>Improving Reliability, Efficiency, and Integration</vt:lpstr>
      <vt:lpstr>Conclusion: The Future of DNA Data Storage</vt:lpstr>
      <vt:lpstr>Questions?</vt:lpstr>
      <vt:lpstr>The End</vt:lpstr>
      <vt:lpstr>Citations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Artificial Intelligence Improving DNA Data Storage</dc:title>
  <dc:creator/>
  <cp:lastModifiedBy>Batta, Gautam</cp:lastModifiedBy>
  <cp:revision>357</cp:revision>
  <dcterms:created xsi:type="dcterms:W3CDTF">2024-12-05T04:01:52Z</dcterms:created>
  <dcterms:modified xsi:type="dcterms:W3CDTF">2024-12-06T04:19:06Z</dcterms:modified>
</cp:coreProperties>
</file>